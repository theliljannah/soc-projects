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Fira Mono Medium"/>
      <p:regular r:id="rId8"/>
    </p:embeddedFont>
    <p:embeddedFont>
      <p:font typeface="Fira Mono Medium"/>
      <p:regular r:id="rId9"/>
    </p:embeddedFont>
    <p:embeddedFont>
      <p:font typeface="Fira Sans"/>
      <p:regular r:id="rId10"/>
    </p:embeddedFont>
    <p:embeddedFont>
      <p:font typeface="Fira Sans"/>
      <p:regular r:id="rId11"/>
    </p:embeddedFont>
    <p:embeddedFont>
      <p:font typeface="Fira Sans"/>
      <p:regular r:id="rId12"/>
    </p:embeddedFont>
    <p:embeddedFont>
      <p:font typeface="Fira Sans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eb.nvd.nist.gov/view/vuln/detail?vulnId=CVE-2021-23017" TargetMode="External"/><Relationship Id="rId3" Type="http://schemas.openxmlformats.org/officeDocument/2006/relationships/hyperlink" Target="http://web.nvd.nist.gov/view/vuln/detail?vulnId=CVE-2019-9511" TargetMode="Externa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svg"/><Relationship Id="rId10" Type="http://schemas.openxmlformats.org/officeDocument/2006/relationships/image" Target="../media/image-1-8.png"/><Relationship Id="rId11" Type="http://schemas.openxmlformats.org/officeDocument/2006/relationships/image" Target="../media/image-1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12538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 Intelligence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659011"/>
            <a:ext cx="10545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Kali Linux Security Assessment: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96835" y="153781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8892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Test Environment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396835" y="2870121"/>
            <a:ext cx="39572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Analyst: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AlJannat A. Uthman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6835" y="3198971"/>
            <a:ext cx="39572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Environment: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Kali Linux (Intentionally Vulnerable)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6835" y="3527822"/>
            <a:ext cx="39572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Tool: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Nessus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8437" y="2870121"/>
            <a:ext cx="96026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Two high NGINX vulnerabilities were discovered in a Nessus scan. The first is a Byte Memory Overwrite RCE that leads to a crash (Denial of Service) with CVE-2021-23017 and CVSS score 7.7 High, affecting nginx 0.6.18 - 1.20.0. The second is an HTTP/2 implementation vulnerability leading to Denial of Service with CVE-2019-9511 and CVSS score 7.5 High.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3984188"/>
            <a:ext cx="8194119" cy="29487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96835" y="7117097"/>
            <a:ext cx="13836729" cy="21788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96835" y="7308890"/>
            <a:ext cx="353651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Vulnerabilities Discovered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396835" y="7762399"/>
            <a:ext cx="6861691" cy="940832"/>
          </a:xfrm>
          <a:prstGeom prst="roundRect">
            <a:avLst>
              <a:gd name="adj" fmla="val 7775"/>
            </a:avLst>
          </a:prstGeom>
          <a:solidFill>
            <a:srgbClr val="0F0F10"/>
          </a:solidFill>
          <a:ln w="15240">
            <a:solidFill>
              <a:srgbClr val="4747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1595" y="7762399"/>
            <a:ext cx="60960" cy="940832"/>
          </a:xfrm>
          <a:prstGeom prst="roundRect">
            <a:avLst>
              <a:gd name="adj" fmla="val 27907"/>
            </a:avLst>
          </a:prstGeom>
          <a:solidFill>
            <a:srgbClr val="FF6BD8"/>
          </a:solidFill>
          <a:ln/>
        </p:spPr>
      </p:sp>
      <p:sp>
        <p:nvSpPr>
          <p:cNvPr id="15" name="Text 12"/>
          <p:cNvSpPr/>
          <p:nvPr/>
        </p:nvSpPr>
        <p:spPr>
          <a:xfrm>
            <a:off x="571143" y="7890986"/>
            <a:ext cx="221039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Nginx Memory Overwrite RCE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143" y="8136136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Vulnerability: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C1C1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 0.6.x &lt; 1.20.1 1 Byte Memory Overwrite RCE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143" y="8393192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 ID: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50" u="sng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CVE-2021-23017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71874" y="7762399"/>
            <a:ext cx="6861691" cy="940832"/>
          </a:xfrm>
          <a:prstGeom prst="roundRect">
            <a:avLst>
              <a:gd name="adj" fmla="val 7775"/>
            </a:avLst>
          </a:prstGeom>
          <a:solidFill>
            <a:srgbClr val="0F0F10"/>
          </a:solidFill>
          <a:ln w="15240">
            <a:solidFill>
              <a:srgbClr val="4747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56634" y="7762399"/>
            <a:ext cx="60960" cy="940832"/>
          </a:xfrm>
          <a:prstGeom prst="roundRect">
            <a:avLst>
              <a:gd name="adj" fmla="val 27907"/>
            </a:avLst>
          </a:prstGeom>
          <a:solidFill>
            <a:srgbClr val="FF6BD8"/>
          </a:solidFill>
          <a:ln/>
        </p:spPr>
      </p:sp>
      <p:sp>
        <p:nvSpPr>
          <p:cNvPr id="20" name="Text 17"/>
          <p:cNvSpPr/>
          <p:nvPr/>
        </p:nvSpPr>
        <p:spPr>
          <a:xfrm>
            <a:off x="7546181" y="789098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Nginx HTTP/2 DOS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46181" y="8136136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Vulnerability: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C1C1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 1.9.5 &lt; 1.16.1 / 1.17.x &lt; 1.17.3 HTTP/2 DOS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546181" y="8393192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 ID: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50" u="sng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CVE-2019-9511</a:t>
            </a:r>
            <a:endParaRPr lang="en-US" sz="8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35" y="8830747"/>
            <a:ext cx="5925860" cy="21122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6835" y="11113056"/>
            <a:ext cx="380857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Risk Analysis and Mitigation</a:t>
            </a:r>
            <a:endParaRPr lang="en-US" sz="1750" dirty="0"/>
          </a:p>
        </p:txBody>
      </p:sp>
      <p:sp>
        <p:nvSpPr>
          <p:cNvPr id="25" name="Shape 21"/>
          <p:cNvSpPr/>
          <p:nvPr/>
        </p:nvSpPr>
        <p:spPr>
          <a:xfrm>
            <a:off x="396835" y="11566565"/>
            <a:ext cx="13836729" cy="1739027"/>
          </a:xfrm>
          <a:prstGeom prst="roundRect">
            <a:avLst>
              <a:gd name="adj" fmla="val 97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04455" y="11574185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518041" y="11649789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3286125" y="11649789"/>
            <a:ext cx="183880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CVSS Score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359241" y="11649789"/>
            <a:ext cx="46031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Risk Summary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0196751" y="11649789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Solution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04455" y="11906845"/>
            <a:ext cx="13821489" cy="6955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518041" y="11982450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3286125" y="11982450"/>
            <a:ext cx="183880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7.7 High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359241" y="11982450"/>
            <a:ext cx="460319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Security issue in Nginx resolver. An attacker able to forge UDP packets from the DNS server could cause a 1-byte memory overwrite, leading to a worker process crash or other impact.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0196751" y="11982450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Upgrade to Nginx 1.20.1 or later.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04455" y="12602408"/>
            <a:ext cx="13821489" cy="6955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518041" y="12678013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CVE-2019-9511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3286125" y="12678013"/>
            <a:ext cx="183880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7.5 High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359241" y="12678013"/>
            <a:ext cx="460319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HTTP/2 implementations are vulnerable to window size and stream prioritization manipulation, potentially leading to Denial of Service (DOS) by forcing the server to queue data in 1-byte chunks, consuming excess CPU/memory.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196751" y="12678013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 Nginx to 1.16.1 or later, and update libnghttp2 to 1.40.0 or later.</a:t>
            </a:r>
            <a:endParaRPr lang="en-US" sz="85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5" y="13433107"/>
            <a:ext cx="8293298" cy="3232190"/>
          </a:xfrm>
          <a:prstGeom prst="rect">
            <a:avLst/>
          </a:prstGeom>
        </p:spPr>
      </p:pic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16792813"/>
            <a:ext cx="8484751" cy="1509713"/>
          </a:xfrm>
          <a:prstGeom prst="rect">
            <a:avLst/>
          </a:prstGeom>
        </p:spPr>
      </p:pic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35" y="18430042"/>
            <a:ext cx="5741551" cy="233195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96835" y="20932021"/>
            <a:ext cx="312848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 Actor Assessment</a:t>
            </a:r>
            <a:endParaRPr lang="en-US" sz="1750" dirty="0"/>
          </a:p>
        </p:txBody>
      </p:sp>
      <p:sp>
        <p:nvSpPr>
          <p:cNvPr id="45" name="Text 38"/>
          <p:cNvSpPr/>
          <p:nvPr/>
        </p:nvSpPr>
        <p:spPr>
          <a:xfrm>
            <a:off x="396835" y="2138553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 is not tied to any named adversary groups according to CISA and NISA.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396835" y="2169449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CVE-2019-9511 has not been tied to widespread campaigns or ransomware.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96835" y="220459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ATT&amp;CK Mapping</a:t>
            </a:r>
            <a:endParaRPr lang="en-US" sz="1750" dirty="0"/>
          </a:p>
        </p:txBody>
      </p:sp>
      <p:sp>
        <p:nvSpPr>
          <p:cNvPr id="48" name="Shape 41"/>
          <p:cNvSpPr/>
          <p:nvPr/>
        </p:nvSpPr>
        <p:spPr>
          <a:xfrm>
            <a:off x="396835" y="22499479"/>
            <a:ext cx="13836729" cy="2676525"/>
          </a:xfrm>
          <a:prstGeom prst="roundRect">
            <a:avLst>
              <a:gd name="adj" fmla="val 63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04455" y="22507099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518041" y="22582703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 ID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3286125" y="22582703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Tactic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6050399" y="22582703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Technique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10196751" y="22582703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Procedure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404455" y="22839759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518041" y="22915364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3286125" y="22915364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Initial Access (TA0001)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6050399" y="22915364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Exploit Public-Facing Application (T1190)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10196751" y="22915364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Attacker identifies internet-exposed NGINX with resolver directive</a:t>
            </a:r>
            <a:endParaRPr lang="en-US" sz="850" dirty="0"/>
          </a:p>
        </p:txBody>
      </p:sp>
      <p:sp>
        <p:nvSpPr>
          <p:cNvPr id="59" name="Shape 52"/>
          <p:cNvSpPr/>
          <p:nvPr/>
        </p:nvSpPr>
        <p:spPr>
          <a:xfrm>
            <a:off x="404455" y="23172420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518041" y="23248025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3286125" y="23248025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Impact (TA0040)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6050399" y="23248025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Network Denial of Service (T1498)</a:t>
            </a:r>
            <a:endParaRPr lang="en-US" sz="850" dirty="0"/>
          </a:p>
        </p:txBody>
      </p:sp>
      <p:sp>
        <p:nvSpPr>
          <p:cNvPr id="63" name="Text 56"/>
          <p:cNvSpPr/>
          <p:nvPr/>
        </p:nvSpPr>
        <p:spPr>
          <a:xfrm>
            <a:off x="10196751" y="23248025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Forges UDP DNS responses, triggers 1-byte heap overwrite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404455" y="23505081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5" name="Text 58"/>
          <p:cNvSpPr/>
          <p:nvPr/>
        </p:nvSpPr>
        <p:spPr>
          <a:xfrm>
            <a:off x="518041" y="23580685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</a:t>
            </a:r>
            <a:endParaRPr lang="en-US" sz="850" dirty="0"/>
          </a:p>
        </p:txBody>
      </p:sp>
      <p:sp>
        <p:nvSpPr>
          <p:cNvPr id="66" name="Text 59"/>
          <p:cNvSpPr/>
          <p:nvPr/>
        </p:nvSpPr>
        <p:spPr>
          <a:xfrm>
            <a:off x="3286125" y="23580685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Discovery (TA0007)</a:t>
            </a:r>
            <a:endParaRPr lang="en-US" sz="850" dirty="0"/>
          </a:p>
        </p:txBody>
      </p:sp>
      <p:sp>
        <p:nvSpPr>
          <p:cNvPr id="67" name="Text 60"/>
          <p:cNvSpPr/>
          <p:nvPr/>
        </p:nvSpPr>
        <p:spPr>
          <a:xfrm>
            <a:off x="6050399" y="23580685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Remote System Discovery/Network Service Scanning</a:t>
            </a:r>
            <a:endParaRPr lang="en-US" sz="850" dirty="0"/>
          </a:p>
        </p:txBody>
      </p:sp>
      <p:sp>
        <p:nvSpPr>
          <p:cNvPr id="68" name="Text 61"/>
          <p:cNvSpPr/>
          <p:nvPr/>
        </p:nvSpPr>
        <p:spPr>
          <a:xfrm>
            <a:off x="10196751" y="23580685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Scans for open UDP/53 and HTTP(S) ports</a:t>
            </a:r>
            <a:endParaRPr lang="en-US" sz="850" dirty="0"/>
          </a:p>
        </p:txBody>
      </p:sp>
      <p:sp>
        <p:nvSpPr>
          <p:cNvPr id="69" name="Shape 62"/>
          <p:cNvSpPr/>
          <p:nvPr/>
        </p:nvSpPr>
        <p:spPr>
          <a:xfrm>
            <a:off x="404455" y="23837741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0" name="Text 63"/>
          <p:cNvSpPr/>
          <p:nvPr/>
        </p:nvSpPr>
        <p:spPr>
          <a:xfrm>
            <a:off x="518041" y="23913346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CVE-2021-23017</a:t>
            </a:r>
            <a:endParaRPr lang="en-US" sz="850" dirty="0"/>
          </a:p>
        </p:txBody>
      </p:sp>
      <p:sp>
        <p:nvSpPr>
          <p:cNvPr id="71" name="Text 64"/>
          <p:cNvSpPr/>
          <p:nvPr/>
        </p:nvSpPr>
        <p:spPr>
          <a:xfrm>
            <a:off x="3286125" y="23913346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Defense Evasion (TA0005)</a:t>
            </a:r>
            <a:endParaRPr lang="en-US" sz="850" dirty="0"/>
          </a:p>
        </p:txBody>
      </p:sp>
      <p:sp>
        <p:nvSpPr>
          <p:cNvPr id="72" name="Text 65"/>
          <p:cNvSpPr/>
          <p:nvPr/>
        </p:nvSpPr>
        <p:spPr>
          <a:xfrm>
            <a:off x="6050399" y="23913346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Impair Defenses</a:t>
            </a:r>
            <a:endParaRPr lang="en-US" sz="850" dirty="0"/>
          </a:p>
        </p:txBody>
      </p:sp>
      <p:sp>
        <p:nvSpPr>
          <p:cNvPr id="73" name="Text 66"/>
          <p:cNvSpPr/>
          <p:nvPr/>
        </p:nvSpPr>
        <p:spPr>
          <a:xfrm>
            <a:off x="10196751" y="23913346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Spoofed DNS packets bypass source IP validation</a:t>
            </a:r>
            <a:endParaRPr lang="en-US" sz="850" dirty="0"/>
          </a:p>
        </p:txBody>
      </p:sp>
      <p:sp>
        <p:nvSpPr>
          <p:cNvPr id="74" name="Shape 67"/>
          <p:cNvSpPr/>
          <p:nvPr/>
        </p:nvSpPr>
        <p:spPr>
          <a:xfrm>
            <a:off x="404455" y="24170402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5" name="Text 68"/>
          <p:cNvSpPr/>
          <p:nvPr/>
        </p:nvSpPr>
        <p:spPr>
          <a:xfrm>
            <a:off x="518041" y="24246007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CVE-2019-9511</a:t>
            </a:r>
            <a:endParaRPr lang="en-US" sz="850" dirty="0"/>
          </a:p>
        </p:txBody>
      </p:sp>
      <p:sp>
        <p:nvSpPr>
          <p:cNvPr id="76" name="Text 69"/>
          <p:cNvSpPr/>
          <p:nvPr/>
        </p:nvSpPr>
        <p:spPr>
          <a:xfrm>
            <a:off x="3286125" y="24246007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Initial Access (TA0001)</a:t>
            </a:r>
            <a:endParaRPr lang="en-US" sz="850" dirty="0"/>
          </a:p>
        </p:txBody>
      </p:sp>
      <p:sp>
        <p:nvSpPr>
          <p:cNvPr id="77" name="Text 70"/>
          <p:cNvSpPr/>
          <p:nvPr/>
        </p:nvSpPr>
        <p:spPr>
          <a:xfrm>
            <a:off x="6050399" y="24246007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Exploit Public-Facing Application (T1190)</a:t>
            </a:r>
            <a:endParaRPr lang="en-US" sz="850" dirty="0"/>
          </a:p>
        </p:txBody>
      </p:sp>
      <p:sp>
        <p:nvSpPr>
          <p:cNvPr id="78" name="Text 71"/>
          <p:cNvSpPr/>
          <p:nvPr/>
        </p:nvSpPr>
        <p:spPr>
          <a:xfrm>
            <a:off x="10196751" y="24246007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Targets HTTP/2-enabled servers</a:t>
            </a:r>
            <a:endParaRPr lang="en-US" sz="850" dirty="0"/>
          </a:p>
        </p:txBody>
      </p:sp>
      <p:sp>
        <p:nvSpPr>
          <p:cNvPr id="79" name="Shape 72"/>
          <p:cNvSpPr/>
          <p:nvPr/>
        </p:nvSpPr>
        <p:spPr>
          <a:xfrm>
            <a:off x="404455" y="24503063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518041" y="24578667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CVE-2019-9511</a:t>
            </a:r>
            <a:endParaRPr lang="en-US" sz="850" dirty="0"/>
          </a:p>
        </p:txBody>
      </p:sp>
      <p:sp>
        <p:nvSpPr>
          <p:cNvPr id="81" name="Text 74"/>
          <p:cNvSpPr/>
          <p:nvPr/>
        </p:nvSpPr>
        <p:spPr>
          <a:xfrm>
            <a:off x="3286125" y="24578667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Impact (TA0040)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6050399" y="24578667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Network Denial of Service (T1498)</a:t>
            </a:r>
            <a:endParaRPr lang="en-US" sz="850" dirty="0"/>
          </a:p>
        </p:txBody>
      </p:sp>
      <p:sp>
        <p:nvSpPr>
          <p:cNvPr id="83" name="Text 76"/>
          <p:cNvSpPr/>
          <p:nvPr/>
        </p:nvSpPr>
        <p:spPr>
          <a:xfrm>
            <a:off x="10196751" y="24578667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Opens many HTTP/2 streams, sends large DATA frames in 1-byte chunks</a:t>
            </a:r>
            <a:endParaRPr lang="en-US" sz="850" dirty="0"/>
          </a:p>
        </p:txBody>
      </p:sp>
      <p:sp>
        <p:nvSpPr>
          <p:cNvPr id="84" name="Shape 77"/>
          <p:cNvSpPr/>
          <p:nvPr/>
        </p:nvSpPr>
        <p:spPr>
          <a:xfrm>
            <a:off x="404455" y="24835723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5" name="Text 78"/>
          <p:cNvSpPr/>
          <p:nvPr/>
        </p:nvSpPr>
        <p:spPr>
          <a:xfrm>
            <a:off x="518041" y="24911328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CVE-2019-9511</a:t>
            </a:r>
            <a:endParaRPr lang="en-US" sz="850" dirty="0"/>
          </a:p>
        </p:txBody>
      </p:sp>
      <p:sp>
        <p:nvSpPr>
          <p:cNvPr id="86" name="Text 79"/>
          <p:cNvSpPr/>
          <p:nvPr/>
        </p:nvSpPr>
        <p:spPr>
          <a:xfrm>
            <a:off x="3286125" y="24911328"/>
            <a:ext cx="25299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Discovery (TA0007)</a:t>
            </a:r>
            <a:endParaRPr lang="en-US" sz="850" dirty="0"/>
          </a:p>
        </p:txBody>
      </p:sp>
      <p:sp>
        <p:nvSpPr>
          <p:cNvPr id="87" name="Text 80"/>
          <p:cNvSpPr/>
          <p:nvPr/>
        </p:nvSpPr>
        <p:spPr>
          <a:xfrm>
            <a:off x="6050399" y="24911328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Network Service Scanning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10196751" y="24911328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Probes HTTP/2 support via ALPN</a:t>
            </a:r>
            <a:endParaRPr lang="en-US" sz="850" dirty="0"/>
          </a:p>
        </p:txBody>
      </p:sp>
      <p:sp>
        <p:nvSpPr>
          <p:cNvPr id="89" name="Text 82"/>
          <p:cNvSpPr/>
          <p:nvPr/>
        </p:nvSpPr>
        <p:spPr>
          <a:xfrm>
            <a:off x="396835" y="25346025"/>
            <a:ext cx="421659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Indicators of Compromise (IOCs)</a:t>
            </a:r>
            <a:endParaRPr lang="en-US" sz="1750" dirty="0"/>
          </a:p>
        </p:txBody>
      </p:sp>
      <p:sp>
        <p:nvSpPr>
          <p:cNvPr id="90" name="Text 83"/>
          <p:cNvSpPr/>
          <p:nvPr/>
        </p:nvSpPr>
        <p:spPr>
          <a:xfrm>
            <a:off x="396835" y="25799534"/>
            <a:ext cx="138367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Since there are no public campaigns or adversaries attached to these vulnerabilities, there are no known IOCs. However, indicators can be derived from exploit behavior including network/traffic analysis, system/application logs, memory dumps, and unusual process behavior.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396835" y="2633245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Business Risks</a:t>
            </a:r>
            <a:endParaRPr lang="en-US" sz="1750" dirty="0"/>
          </a:p>
        </p:txBody>
      </p:sp>
      <p:sp>
        <p:nvSpPr>
          <p:cNvPr id="92" name="Text 85"/>
          <p:cNvSpPr/>
          <p:nvPr/>
        </p:nvSpPr>
        <p:spPr>
          <a:xfrm>
            <a:off x="396835" y="2678596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Service Downtime (DoS) - High likelihood, up to $1M recovery cost</a:t>
            </a:r>
            <a:endParaRPr lang="en-US" sz="850" dirty="0"/>
          </a:p>
        </p:txBody>
      </p:sp>
      <p:sp>
        <p:nvSpPr>
          <p:cNvPr id="93" name="Text 86"/>
          <p:cNvSpPr/>
          <p:nvPr/>
        </p:nvSpPr>
        <p:spPr>
          <a:xfrm>
            <a:off x="396835" y="27007066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Brand damage and customer trust loss - Medium likelihood, over $1M in revenue/recovery</a:t>
            </a:r>
            <a:endParaRPr lang="en-US" sz="850" dirty="0"/>
          </a:p>
        </p:txBody>
      </p:sp>
      <p:sp>
        <p:nvSpPr>
          <p:cNvPr id="94" name="Text 87"/>
          <p:cNvSpPr/>
          <p:nvPr/>
        </p:nvSpPr>
        <p:spPr>
          <a:xfrm>
            <a:off x="396835" y="2722816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Regulatory non-compliance - Medium likelihood, up to $1M in fines per incident</a:t>
            </a:r>
            <a:endParaRPr lang="en-US" sz="850" dirty="0"/>
          </a:p>
        </p:txBody>
      </p:sp>
      <p:sp>
        <p:nvSpPr>
          <p:cNvPr id="95" name="Text 88"/>
          <p:cNvSpPr/>
          <p:nvPr/>
        </p:nvSpPr>
        <p:spPr>
          <a:xfrm>
            <a:off x="396835" y="2744926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breach from RCE chain - Low to medium likelihood, up to $100M if successful</a:t>
            </a:r>
            <a:endParaRPr lang="en-US" sz="850" dirty="0"/>
          </a:p>
        </p:txBody>
      </p:sp>
      <p:sp>
        <p:nvSpPr>
          <p:cNvPr id="96" name="Text 89"/>
          <p:cNvSpPr/>
          <p:nvPr/>
        </p:nvSpPr>
        <p:spPr>
          <a:xfrm>
            <a:off x="396835" y="2767036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Cloud cost spikes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396835" y="28021836"/>
            <a:ext cx="258437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SOC Recommendations</a:t>
            </a:r>
            <a:endParaRPr lang="en-US" sz="1750" dirty="0"/>
          </a:p>
        </p:txBody>
      </p:sp>
      <p:sp>
        <p:nvSpPr>
          <p:cNvPr id="98" name="Text 91"/>
          <p:cNvSpPr/>
          <p:nvPr/>
        </p:nvSpPr>
        <p:spPr>
          <a:xfrm>
            <a:off x="396835" y="2847534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Upgrade nginx to 1.20.1 and newer updates</a:t>
            </a:r>
            <a:endParaRPr lang="en-US" sz="850" dirty="0"/>
          </a:p>
        </p:txBody>
      </p:sp>
      <p:sp>
        <p:nvSpPr>
          <p:cNvPr id="99" name="Text 92"/>
          <p:cNvSpPr/>
          <p:nvPr/>
        </p:nvSpPr>
        <p:spPr>
          <a:xfrm>
            <a:off x="396835" y="2869644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Disable HTTP/2 if not required</a:t>
            </a:r>
            <a:endParaRPr lang="en-US" sz="850" dirty="0"/>
          </a:p>
        </p:txBody>
      </p:sp>
      <p:sp>
        <p:nvSpPr>
          <p:cNvPr id="100" name="Text 93"/>
          <p:cNvSpPr/>
          <p:nvPr/>
        </p:nvSpPr>
        <p:spPr>
          <a:xfrm>
            <a:off x="396835" y="2891754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Harden systems and improve SOC and Incident response playbooks</a:t>
            </a:r>
            <a:endParaRPr lang="en-US" sz="850" dirty="0"/>
          </a:p>
        </p:txBody>
      </p:sp>
      <p:sp>
        <p:nvSpPr>
          <p:cNvPr id="101" name="Text 94"/>
          <p:cNvSpPr/>
          <p:nvPr/>
        </p:nvSpPr>
        <p:spPr>
          <a:xfrm>
            <a:off x="396835" y="292690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Challenges Faced</a:t>
            </a:r>
            <a:endParaRPr lang="en-US" sz="1750" dirty="0"/>
          </a:p>
        </p:txBody>
      </p:sp>
      <p:sp>
        <p:nvSpPr>
          <p:cNvPr id="102" name="Shape 95"/>
          <p:cNvSpPr/>
          <p:nvPr/>
        </p:nvSpPr>
        <p:spPr>
          <a:xfrm>
            <a:off x="396835" y="29722524"/>
            <a:ext cx="6861691" cy="1288256"/>
          </a:xfrm>
          <a:prstGeom prst="roundRect">
            <a:avLst>
              <a:gd name="adj" fmla="val 1321"/>
            </a:avLst>
          </a:prstGeom>
          <a:solidFill>
            <a:srgbClr val="2E2E2F"/>
          </a:solidFill>
          <a:ln/>
        </p:spPr>
      </p:sp>
      <p:sp>
        <p:nvSpPr>
          <p:cNvPr id="103" name="Shape 96"/>
          <p:cNvSpPr/>
          <p:nvPr/>
        </p:nvSpPr>
        <p:spPr>
          <a:xfrm>
            <a:off x="510183" y="2983587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FF6BD8"/>
          </a:solidFill>
          <a:ln/>
        </p:spPr>
      </p:sp>
      <p:pic>
        <p:nvPicPr>
          <p:cNvPr id="10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766" y="29929455"/>
            <a:ext cx="152995" cy="152995"/>
          </a:xfrm>
          <a:prstGeom prst="rect">
            <a:avLst/>
          </a:prstGeom>
        </p:spPr>
      </p:pic>
      <p:sp>
        <p:nvSpPr>
          <p:cNvPr id="105" name="Text 97"/>
          <p:cNvSpPr/>
          <p:nvPr/>
        </p:nvSpPr>
        <p:spPr>
          <a:xfrm>
            <a:off x="510183" y="30289381"/>
            <a:ext cx="204037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SSH Configuration Issues</a:t>
            </a:r>
            <a:endParaRPr lang="en-US" sz="1100" dirty="0"/>
          </a:p>
        </p:txBody>
      </p:sp>
      <p:sp>
        <p:nvSpPr>
          <p:cNvPr id="106" name="Text 98"/>
          <p:cNvSpPr/>
          <p:nvPr/>
        </p:nvSpPr>
        <p:spPr>
          <a:xfrm>
            <a:off x="510183" y="30534531"/>
            <a:ext cx="66349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Initial difficulty with SSH configuration, which was later determined to be non-critical for the assessment.</a:t>
            </a:r>
            <a:endParaRPr lang="en-US" sz="850" dirty="0"/>
          </a:p>
        </p:txBody>
      </p:sp>
      <p:sp>
        <p:nvSpPr>
          <p:cNvPr id="107" name="Shape 99"/>
          <p:cNvSpPr/>
          <p:nvPr/>
        </p:nvSpPr>
        <p:spPr>
          <a:xfrm>
            <a:off x="7371874" y="29722524"/>
            <a:ext cx="6861691" cy="1288256"/>
          </a:xfrm>
          <a:prstGeom prst="roundRect">
            <a:avLst>
              <a:gd name="adj" fmla="val 1321"/>
            </a:avLst>
          </a:prstGeom>
          <a:solidFill>
            <a:srgbClr val="2E2E2F"/>
          </a:solidFill>
          <a:ln/>
        </p:spPr>
      </p:sp>
      <p:sp>
        <p:nvSpPr>
          <p:cNvPr id="108" name="Shape 100"/>
          <p:cNvSpPr/>
          <p:nvPr/>
        </p:nvSpPr>
        <p:spPr>
          <a:xfrm>
            <a:off x="7485221" y="2983587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FF6BD8"/>
          </a:solidFill>
          <a:ln/>
        </p:spPr>
      </p:sp>
      <p:pic>
        <p:nvPicPr>
          <p:cNvPr id="109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78804" y="29929455"/>
            <a:ext cx="152995" cy="152995"/>
          </a:xfrm>
          <a:prstGeom prst="rect">
            <a:avLst/>
          </a:prstGeom>
        </p:spPr>
      </p:pic>
      <p:sp>
        <p:nvSpPr>
          <p:cNvPr id="110" name="Text 101"/>
          <p:cNvSpPr/>
          <p:nvPr/>
        </p:nvSpPr>
        <p:spPr>
          <a:xfrm>
            <a:off x="7485221" y="30289381"/>
            <a:ext cx="204037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Nessus Dashboard Lockout</a:t>
            </a:r>
            <a:endParaRPr lang="en-US" sz="1100" dirty="0"/>
          </a:p>
        </p:txBody>
      </p:sp>
      <p:sp>
        <p:nvSpPr>
          <p:cNvPr id="111" name="Text 102"/>
          <p:cNvSpPr/>
          <p:nvPr/>
        </p:nvSpPr>
        <p:spPr>
          <a:xfrm>
            <a:off x="7485221" y="30534531"/>
            <a:ext cx="663499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Forgot login credentials for the Nessus dashboard, requiring research to learn how to reset the password via the terminal, which was successful.</a:t>
            </a:r>
            <a:endParaRPr lang="en-US" sz="850" dirty="0"/>
          </a:p>
        </p:txBody>
      </p:sp>
      <p:sp>
        <p:nvSpPr>
          <p:cNvPr id="112" name="Text 103"/>
          <p:cNvSpPr/>
          <p:nvPr/>
        </p:nvSpPr>
        <p:spPr>
          <a:xfrm>
            <a:off x="396835" y="3113829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2025-10-30T16:56:58Z</dcterms:created>
  <dcterms:modified xsi:type="dcterms:W3CDTF">2025-10-30T16:56:58Z</dcterms:modified>
</cp:coreProperties>
</file>